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Bitter"/>
      <p:regular r:id="rId7"/>
      <p:bold r:id="rId8"/>
      <p:italic r:id="rId9"/>
      <p:boldItalic r:id="rId10"/>
    </p:embeddedFont>
    <p:embeddedFont>
      <p:font typeface="Bitter SemiBold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itterSemiBold-regular.fntdata"/><Relationship Id="rId10" Type="http://schemas.openxmlformats.org/officeDocument/2006/relationships/font" Target="fonts/Bitter-boldItalic.fntdata"/><Relationship Id="rId13" Type="http://schemas.openxmlformats.org/officeDocument/2006/relationships/font" Target="fonts/BitterSemiBold-italic.fntdata"/><Relationship Id="rId12" Type="http://schemas.openxmlformats.org/officeDocument/2006/relationships/font" Target="fonts/Bitter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itter-italic.fntdata"/><Relationship Id="rId14" Type="http://schemas.openxmlformats.org/officeDocument/2006/relationships/font" Target="fonts/BitterSemiBold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Bitter-regular.fntdata"/><Relationship Id="rId8" Type="http://schemas.openxmlformats.org/officeDocument/2006/relationships/font" Target="fonts/Bit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d88fe51d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ed88fe51d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"/>
              <a:t>Template page d’accueil </a:t>
            </a:r>
            <a:endParaRPr/>
          </a:p>
        </p:txBody>
      </p:sp>
      <p:sp>
        <p:nvSpPr>
          <p:cNvPr id="53" name="Google Shape;53;g3ed88fe51d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Relationship Id="rId11" Type="http://schemas.openxmlformats.org/officeDocument/2006/relationships/image" Target="../media/image5.jpg"/><Relationship Id="rId10" Type="http://schemas.openxmlformats.org/officeDocument/2006/relationships/image" Target="../media/image2.jpg"/><Relationship Id="rId9" Type="http://schemas.openxmlformats.org/officeDocument/2006/relationships/image" Target="../media/image1.jpg"/><Relationship Id="rId5" Type="http://schemas.openxmlformats.org/officeDocument/2006/relationships/image" Target="../media/image3.jpg"/><Relationship Id="rId6" Type="http://schemas.openxmlformats.org/officeDocument/2006/relationships/image" Target="../media/image9.jp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/>
        </p:nvSpPr>
        <p:spPr>
          <a:xfrm>
            <a:off x="1238063" y="1052227"/>
            <a:ext cx="6667800" cy="18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0" i="0" lang="fr" sz="41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GBIF France :</a:t>
            </a:r>
            <a:endParaRPr b="0" i="0" sz="11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" sz="36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20 ans d’actions </a:t>
            </a:r>
            <a:endParaRPr b="0" i="0" sz="11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fr" sz="3600" u="none" cap="none" strike="noStrike">
                <a:solidFill>
                  <a:srgbClr val="61A115"/>
                </a:solidFill>
                <a:latin typeface="Bitter SemiBold"/>
                <a:ea typeface="Bitter SemiBold"/>
                <a:cs typeface="Bitter SemiBold"/>
                <a:sym typeface="Bitter SemiBold"/>
              </a:rPr>
              <a:t>au service de la biodiversité</a:t>
            </a:r>
            <a:endParaRPr b="0" i="1" sz="1800" u="none" cap="none" strike="noStrike">
              <a:solidFill>
                <a:srgbClr val="61A115"/>
              </a:solidFill>
              <a:latin typeface="Bitter SemiBold"/>
              <a:ea typeface="Bitter SemiBold"/>
              <a:cs typeface="Bitter SemiBold"/>
              <a:sym typeface="Bitter SemiBold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3205860" y="2997925"/>
            <a:ext cx="2628900" cy="0"/>
          </a:xfrm>
          <a:prstGeom prst="straightConnector1">
            <a:avLst/>
          </a:prstGeom>
          <a:noFill/>
          <a:ln cap="flat" cmpd="sng" w="14300">
            <a:solidFill>
              <a:schemeClr val="accent6"/>
            </a:solidFill>
            <a:prstDash val="solid"/>
            <a:miter lim="80"/>
            <a:headEnd len="sm" w="sm" type="none"/>
            <a:tailEnd len="sm" w="sm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775025" y="3288131"/>
            <a:ext cx="5594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fr" sz="1400" u="none" cap="none" strike="noStrike">
                <a:solidFill>
                  <a:schemeClr val="dk1"/>
                </a:solidFill>
                <a:latin typeface="Bitter"/>
                <a:ea typeface="Bitter"/>
                <a:cs typeface="Bitter"/>
                <a:sym typeface="Bitter"/>
              </a:rPr>
              <a:t>19 juin 2026, Auditorium Jean Rouch, Musée de l’Homme, Paris, France </a:t>
            </a:r>
            <a:endParaRPr b="0" i="0" sz="1100" u="none" cap="none" strike="noStrike">
              <a:solidFill>
                <a:srgbClr val="000000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pic>
        <p:nvPicPr>
          <p:cNvPr descr="Fête de la science 2026 | Kit communication - Espace Mendès France" id="58" name="Google Shape;5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43288" y="4195633"/>
            <a:ext cx="1063255" cy="8781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26577" y="4209678"/>
            <a:ext cx="1116711" cy="807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2264" y="4238953"/>
            <a:ext cx="680674" cy="7915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PatriNat | PatriNat, centre d'expertise et de données sur le  patrimoine naturel" id="61" name="Google Shape;61;p13"/>
          <p:cNvPicPr preferRelativeResize="0"/>
          <p:nvPr/>
        </p:nvPicPr>
        <p:blipFill rotWithShape="1">
          <a:blip r:embed="rId6">
            <a:alphaModFix/>
          </a:blip>
          <a:srcRect b="11315" l="3614" r="0" t="16248"/>
          <a:stretch/>
        </p:blipFill>
        <p:spPr>
          <a:xfrm>
            <a:off x="3689401" y="4357688"/>
            <a:ext cx="882019" cy="659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lobal Biodiversity Information Facility - Entreprises et Biodiversité" id="62" name="Google Shape;62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68719" y="4346953"/>
            <a:ext cx="1185291" cy="533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799625" y="4301158"/>
            <a:ext cx="801507" cy="65990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ffice français de la biodiversité — Wikipédia" id="64" name="Google Shape;64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190004" y="4220662"/>
            <a:ext cx="801500" cy="807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 title="BG2.jp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68894" y="73314"/>
            <a:ext cx="1960556" cy="166501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 title="logo_gbif.jp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254713" y="73313"/>
            <a:ext cx="1593838" cy="1665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