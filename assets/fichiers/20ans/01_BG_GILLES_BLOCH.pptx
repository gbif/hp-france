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Bitter"/>
      <p:regular r:id="rId7"/>
      <p:bold r:id="rId8"/>
      <p:italic r:id="rId9"/>
      <p:boldItalic r:id="rId10"/>
    </p:embeddedFont>
    <p:embeddedFont>
      <p:font typeface="Bitter SemiBold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BitterSemiBold-regular.fntdata"/><Relationship Id="rId10" Type="http://schemas.openxmlformats.org/officeDocument/2006/relationships/font" Target="fonts/Bitter-boldItalic.fntdata"/><Relationship Id="rId13" Type="http://schemas.openxmlformats.org/officeDocument/2006/relationships/font" Target="fonts/BitterSemiBold-italic.fntdata"/><Relationship Id="rId12" Type="http://schemas.openxmlformats.org/officeDocument/2006/relationships/font" Target="fonts/Bitter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Bitter-italic.fntdata"/><Relationship Id="rId14" Type="http://schemas.openxmlformats.org/officeDocument/2006/relationships/font" Target="fonts/Bitter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Bitter-regular.fntdata"/><Relationship Id="rId8" Type="http://schemas.openxmlformats.org/officeDocument/2006/relationships/font" Target="fonts/Bit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d88f3703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ed88f3703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ed88f3703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1108069" y="2860258"/>
            <a:ext cx="6945900" cy="18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fr" sz="3600" u="none" cap="none" strike="noStrike">
                <a:solidFill>
                  <a:schemeClr val="dk1"/>
                </a:solidFill>
                <a:latin typeface="Bitter SemiBold"/>
                <a:ea typeface="Bitter SemiBold"/>
                <a:cs typeface="Bitter SemiBold"/>
                <a:sym typeface="Bitter SemiBold"/>
              </a:rPr>
              <a:t>Gilles Bloch</a:t>
            </a:r>
            <a:endParaRPr b="0" i="0" sz="1100" u="none" cap="none" strike="noStrike">
              <a:solidFill>
                <a:schemeClr val="dk1"/>
              </a:solidFill>
              <a:latin typeface="Bitter SemiBold"/>
              <a:ea typeface="Bitter SemiBold"/>
              <a:cs typeface="Bitter SemiBold"/>
              <a:sym typeface="Bit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1" lang="fr" sz="2300" u="none" cap="none" strike="noStrike">
                <a:solidFill>
                  <a:schemeClr val="dk1"/>
                </a:solidFill>
                <a:latin typeface="Bitter SemiBold"/>
                <a:ea typeface="Bitter SemiBold"/>
                <a:cs typeface="Bitter SemiBold"/>
                <a:sym typeface="Bitter SemiBold"/>
              </a:rPr>
              <a:t>Président du Muséum national </a:t>
            </a:r>
            <a:endParaRPr b="0" i="1" sz="2300" u="none" cap="none" strike="noStrike">
              <a:solidFill>
                <a:schemeClr val="dk1"/>
              </a:solidFill>
              <a:latin typeface="Bitter SemiBold"/>
              <a:ea typeface="Bitter SemiBold"/>
              <a:cs typeface="Bitter SemiBold"/>
              <a:sym typeface="Bit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1" lang="fr" sz="2300" u="none" cap="none" strike="noStrike">
                <a:solidFill>
                  <a:schemeClr val="dk1"/>
                </a:solidFill>
                <a:latin typeface="Bitter SemiBold"/>
                <a:ea typeface="Bitter SemiBold"/>
                <a:cs typeface="Bitter SemiBold"/>
                <a:sym typeface="Bitter SemiBold"/>
              </a:rPr>
              <a:t>d’Histoire naturelle</a:t>
            </a:r>
            <a:endParaRPr b="0" i="1" sz="900" u="none" cap="none" strike="noStrike">
              <a:solidFill>
                <a:schemeClr val="dk1"/>
              </a:solidFill>
              <a:latin typeface="Bitter SemiBold"/>
              <a:ea typeface="Bitter SemiBold"/>
              <a:cs typeface="Bitter SemiBold"/>
              <a:sym typeface="Bit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Bitter SemiBold"/>
              <a:ea typeface="Bitter SemiBold"/>
              <a:cs typeface="Bitter SemiBold"/>
              <a:sym typeface="Bitter SemiBold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0" y="4629150"/>
            <a:ext cx="7450800" cy="0"/>
          </a:xfrm>
          <a:prstGeom prst="straightConnector1">
            <a:avLst/>
          </a:prstGeom>
          <a:noFill/>
          <a:ln cap="flat" cmpd="sng" w="14300">
            <a:solidFill>
              <a:schemeClr val="accent6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57" name="Google Shape;57;p13"/>
          <p:cNvSpPr txBox="1"/>
          <p:nvPr/>
        </p:nvSpPr>
        <p:spPr>
          <a:xfrm>
            <a:off x="109387" y="4683019"/>
            <a:ext cx="6090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fr" sz="1400" u="none" cap="none" strike="noStrike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rPr>
              <a:t>19 juin 2026, Auditorium Jean Rouch, Musée de l’Homme, Paris, France </a:t>
            </a:r>
            <a:endParaRPr b="0" i="0" sz="1100" u="none" cap="none" strike="noStrike">
              <a:solidFill>
                <a:srgbClr val="000000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408344" y="273019"/>
            <a:ext cx="43455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" sz="1800" u="none" cap="none" strike="noStrike">
                <a:solidFill>
                  <a:srgbClr val="61A115"/>
                </a:solidFill>
                <a:latin typeface="Bitter SemiBold"/>
                <a:ea typeface="Bitter SemiBold"/>
                <a:cs typeface="Bitter SemiBold"/>
                <a:sym typeface="Bitter SemiBold"/>
              </a:rPr>
              <a:t>GBIF France :</a:t>
            </a:r>
            <a:endParaRPr b="1" i="0" sz="1800" u="none" cap="none" strike="noStrike">
              <a:solidFill>
                <a:srgbClr val="61A115"/>
              </a:solidFill>
              <a:latin typeface="Bitter SemiBold"/>
              <a:ea typeface="Bitter SemiBold"/>
              <a:cs typeface="Bitter SemiBold"/>
              <a:sym typeface="Bitter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" sz="1800" u="none" cap="none" strike="noStrike">
                <a:solidFill>
                  <a:srgbClr val="61A115"/>
                </a:solidFill>
                <a:latin typeface="Bitter SemiBold"/>
                <a:ea typeface="Bitter SemiBold"/>
                <a:cs typeface="Bitter SemiBold"/>
                <a:sym typeface="Bitter SemiBold"/>
              </a:rPr>
              <a:t>20 ans d’actions </a:t>
            </a:r>
            <a:endParaRPr b="1" i="0" sz="1800" u="none" cap="none" strike="noStrike">
              <a:solidFill>
                <a:srgbClr val="61A115"/>
              </a:solidFill>
              <a:latin typeface="Bitter SemiBold"/>
              <a:ea typeface="Bitter SemiBold"/>
              <a:cs typeface="Bitter SemiBold"/>
              <a:sym typeface="Bitter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" sz="1800" u="none" cap="none" strike="noStrike">
                <a:solidFill>
                  <a:srgbClr val="61A115"/>
                </a:solidFill>
                <a:latin typeface="Bitter SemiBold"/>
                <a:ea typeface="Bitter SemiBold"/>
                <a:cs typeface="Bitter SemiBold"/>
                <a:sym typeface="Bitter SemiBold"/>
              </a:rPr>
              <a:t>au service de la biodiversité</a:t>
            </a:r>
            <a:endParaRPr b="1" i="1" sz="1100" u="none" cap="none" strike="noStrike">
              <a:solidFill>
                <a:srgbClr val="61A115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59" name="Google Shape;59;p13" title="BG2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756" y="71831"/>
            <a:ext cx="1717002" cy="1458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logo_gbif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6940" y="18031"/>
            <a:ext cx="1395849" cy="1458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0612" y="2579720"/>
            <a:ext cx="1425321" cy="1657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